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CAEDEA-4F37-472C-A957-F6203E0B71EF}" v="47" dt="2026-05-19T19:40:25.347"/>
    <p1510:client id="{C16863C4-936C-6793-D6AE-6FFE6E6FFD93}" v="1" dt="2026-05-19T19:58:14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رسال نايف عبدالله السنتلي" userId="S::445008617@pnu.edu.sa::e9f7ef66-5b81-49f9-8454-7d3e8cd28b2f" providerId="AD" clId="Web-{C16863C4-936C-6793-D6AE-6FFE6E6FFD93}"/>
    <pc:docChg chg="modSld">
      <pc:chgData name="رسال نايف عبدالله السنتلي" userId="S::445008617@pnu.edu.sa::e9f7ef66-5b81-49f9-8454-7d3e8cd28b2f" providerId="AD" clId="Web-{C16863C4-936C-6793-D6AE-6FFE6E6FFD93}" dt="2026-05-19T19:58:14.367" v="0" actId="20577"/>
      <pc:docMkLst>
        <pc:docMk/>
      </pc:docMkLst>
      <pc:sldChg chg="modSp">
        <pc:chgData name="رسال نايف عبدالله السنتلي" userId="S::445008617@pnu.edu.sa::e9f7ef66-5b81-49f9-8454-7d3e8cd28b2f" providerId="AD" clId="Web-{C16863C4-936C-6793-D6AE-6FFE6E6FFD93}" dt="2026-05-19T19:58:14.367" v="0" actId="20577"/>
        <pc:sldMkLst>
          <pc:docMk/>
          <pc:sldMk cId="0" sldId="260"/>
        </pc:sldMkLst>
        <pc:spChg chg="mod">
          <ac:chgData name="رسال نايف عبدالله السنتلي" userId="S::445008617@pnu.edu.sa::e9f7ef66-5b81-49f9-8454-7d3e8cd28b2f" providerId="AD" clId="Web-{C16863C4-936C-6793-D6AE-6FFE6E6FFD93}" dt="2026-05-19T19:58:14.367" v="0" actId="20577"/>
          <ac:spMkLst>
            <pc:docMk/>
            <pc:sldMk cId="0" sldId="260"/>
            <ac:spMk id="32" creationId="{00000000-0000-0000-0000-000000000000}"/>
          </ac:spMkLst>
        </pc:spChg>
      </pc:sldChg>
    </pc:docChg>
  </pc:docChgLst>
  <pc:docChgLst>
    <pc:chgData name="رسال نايف عبدالله السنتلي" userId="e9f7ef66-5b81-49f9-8454-7d3e8cd28b2f" providerId="ADAL" clId="{6B271031-7E6D-447D-8D1C-A581017EFCCC}"/>
    <pc:docChg chg="modSld">
      <pc:chgData name="رسال نايف عبدالله السنتلي" userId="e9f7ef66-5b81-49f9-8454-7d3e8cd28b2f" providerId="ADAL" clId="{6B271031-7E6D-447D-8D1C-A581017EFCCC}" dt="2026-05-19T19:40:25.347" v="46" actId="207"/>
      <pc:docMkLst>
        <pc:docMk/>
      </pc:docMkLst>
      <pc:sldChg chg="addSp modSp mod">
        <pc:chgData name="رسال نايف عبدالله السنتلي" userId="e9f7ef66-5b81-49f9-8454-7d3e8cd28b2f" providerId="ADAL" clId="{6B271031-7E6D-447D-8D1C-A581017EFCCC}" dt="2026-05-19T19:40:25.347" v="46" actId="207"/>
        <pc:sldMkLst>
          <pc:docMk/>
          <pc:sldMk cId="0" sldId="260"/>
        </pc:sldMkLst>
        <pc:spChg chg="mod">
          <ac:chgData name="رسال نايف عبدالله السنتلي" userId="e9f7ef66-5b81-49f9-8454-7d3e8cd28b2f" providerId="ADAL" clId="{6B271031-7E6D-447D-8D1C-A581017EFCCC}" dt="2026-05-19T19:36:19.874" v="2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رسال نايف عبدالله السنتلي" userId="e9f7ef66-5b81-49f9-8454-7d3e8cd28b2f" providerId="ADAL" clId="{6B271031-7E6D-447D-8D1C-A581017EFCCC}" dt="2026-05-19T19:36:42.111" v="4" actId="255"/>
          <ac:spMkLst>
            <pc:docMk/>
            <pc:sldMk cId="0" sldId="260"/>
            <ac:spMk id="26" creationId="{00000000-0000-0000-0000-000000000000}"/>
          </ac:spMkLst>
        </pc:spChg>
        <pc:spChg chg="mod">
          <ac:chgData name="رسال نايف عبدالله السنتلي" userId="e9f7ef66-5b81-49f9-8454-7d3e8cd28b2f" providerId="ADAL" clId="{6B271031-7E6D-447D-8D1C-A581017EFCCC}" dt="2026-05-19T19:37:08.549" v="8" actId="25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رسال نايف عبدالله السنتلي" userId="e9f7ef66-5b81-49f9-8454-7d3e8cd28b2f" providerId="ADAL" clId="{6B271031-7E6D-447D-8D1C-A581017EFCCC}" dt="2026-05-19T19:37:33.048" v="10"/>
          <ac:spMkLst>
            <pc:docMk/>
            <pc:sldMk cId="0" sldId="260"/>
            <ac:spMk id="33" creationId="{00000000-0000-0000-0000-000000000000}"/>
          </ac:spMkLst>
        </pc:spChg>
        <pc:spChg chg="mod">
          <ac:chgData name="رسال نايف عبدالله السنتلي" userId="e9f7ef66-5b81-49f9-8454-7d3e8cd28b2f" providerId="ADAL" clId="{6B271031-7E6D-447D-8D1C-A581017EFCCC}" dt="2026-05-19T19:40:25.347" v="46" actId="207"/>
          <ac:spMkLst>
            <pc:docMk/>
            <pc:sldMk cId="0" sldId="260"/>
            <ac:spMk id="40" creationId="{00000000-0000-0000-0000-000000000000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42" creationId="{162480AA-E0B8-DCD7-9734-1724B47EB866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43" creationId="{8641124B-2B34-F8CF-F8EF-9BA049A69DF9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47" creationId="{5F390CAA-4A6C-37CE-1586-65CA4A8EEE96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49" creationId="{BC5DFDAB-F441-38A3-C836-85A0FB3A0F6E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50" creationId="{7F68CC98-96F0-4DD3-46CB-F8157904F414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52" creationId="{249365CC-85EB-790E-26C2-56074410CAE8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53" creationId="{D2A5875A-2FBE-22FE-9185-62E7D73185B6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55" creationId="{5D958898-626D-21C5-E8F1-E16CEE1B816F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56" creationId="{680F641B-5328-C2A8-A26D-06B6F6A0B62B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24.918" v="13"/>
          <ac:spMkLst>
            <pc:docMk/>
            <pc:sldMk cId="0" sldId="260"/>
            <ac:spMk id="57" creationId="{F4421324-F555-FA97-1BE7-FC6C8FABA3F3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59" creationId="{1DEEF3BE-B1A2-5EB9-9A3A-E41DD713AAE1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63" creationId="{9F923564-B071-E907-E037-D90DDA13FB63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64" creationId="{B2D61668-EFF5-733F-C48A-F5C6CE177A8A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65" creationId="{CAE1F94E-1FAB-0417-FFE9-98C5399A0324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67" creationId="{ABE81B6B-28E8-4257-3746-67CF932183B1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68" creationId="{44C0F74C-7232-6DA3-6963-1D526016002B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69" creationId="{579751E2-BB19-C547-B1B0-416048F91748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72" creationId="{F6E6DE0F-85DA-D913-7D4C-15FA7E19C613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73" creationId="{CD87790F-73D3-C573-3D6A-10EEC59EAE6A}"/>
          </ac:spMkLst>
        </pc:spChg>
        <pc:spChg chg="add mod">
          <ac:chgData name="رسال نايف عبدالله السنتلي" userId="e9f7ef66-5b81-49f9-8454-7d3e8cd28b2f" providerId="ADAL" clId="{6B271031-7E6D-447D-8D1C-A581017EFCCC}" dt="2026-05-19T19:38:43.468" v="15"/>
          <ac:spMkLst>
            <pc:docMk/>
            <pc:sldMk cId="0" sldId="260"/>
            <ac:spMk id="74" creationId="{805B1CE6-D903-4D60-A82F-181DD56D8B1F}"/>
          </ac:spMkLst>
        </pc:spChg>
      </pc:sldChg>
    </pc:docChg>
  </pc:docChgLst>
  <pc:docChgLst>
    <pc:chgData name="رسال نايف عبدالله السنتلي" userId="e9f7ef66-5b81-49f9-8454-7d3e8cd28b2f" providerId="ADAL" clId="{96027012-A291-4DEB-A439-E10665E7162C}"/>
    <pc:docChg chg="modSld">
      <pc:chgData name="رسال نايف عبدالله السنتلي" userId="e9f7ef66-5b81-49f9-8454-7d3e8cd28b2f" providerId="ADAL" clId="{96027012-A291-4DEB-A439-E10665E7162C}" dt="2026-05-19T11:11:50.938" v="3" actId="20577"/>
      <pc:docMkLst>
        <pc:docMk/>
      </pc:docMkLst>
      <pc:sldChg chg="modSp mod">
        <pc:chgData name="رسال نايف عبدالله السنتلي" userId="e9f7ef66-5b81-49f9-8454-7d3e8cd28b2f" providerId="ADAL" clId="{96027012-A291-4DEB-A439-E10665E7162C}" dt="2026-05-19T11:11:50.938" v="3" actId="20577"/>
        <pc:sldMkLst>
          <pc:docMk/>
          <pc:sldMk cId="0" sldId="267"/>
        </pc:sldMkLst>
        <pc:spChg chg="mod">
          <ac:chgData name="رسال نايف عبدالله السنتلي" userId="e9f7ef66-5b81-49f9-8454-7d3e8cd28b2f" providerId="ADAL" clId="{96027012-A291-4DEB-A439-E10665E7162C}" dt="2026-05-19T11:11:50.938" v="3" actId="20577"/>
          <ac:spMkLst>
            <pc:docMk/>
            <pc:sldMk cId="0" sldId="267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9A84C"/>
                </a:solidFill>
                <a:latin typeface="Georgia"/>
              </a:defRPr>
            </a:pPr>
            <a:r>
              <a:rPr lang="en-US" sz="1100" b="0" i="0" u="none" strike="noStrike">
                <a:solidFill>
                  <a:srgbClr val="C9A84C"/>
                </a:solidFill>
                <a:latin typeface="Georgia"/>
              </a:rPr>
              <a:t>Gold Price Trend (2012–2025)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(USD/oz)</c:v>
                </c:pt>
              </c:strCache>
            </c:strRef>
          </c:tx>
          <c:spPr>
            <a:ln w="2540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1668</c:v>
                </c:pt>
                <c:pt idx="1">
                  <c:v>1411</c:v>
                </c:pt>
                <c:pt idx="2">
                  <c:v>1266</c:v>
                </c:pt>
                <c:pt idx="3">
                  <c:v>1160</c:v>
                </c:pt>
                <c:pt idx="4">
                  <c:v>1251</c:v>
                </c:pt>
                <c:pt idx="5">
                  <c:v>1257</c:v>
                </c:pt>
                <c:pt idx="6">
                  <c:v>1269</c:v>
                </c:pt>
                <c:pt idx="7">
                  <c:v>1393</c:v>
                </c:pt>
                <c:pt idx="8">
                  <c:v>1770</c:v>
                </c:pt>
                <c:pt idx="9">
                  <c:v>1800</c:v>
                </c:pt>
                <c:pt idx="10">
                  <c:v>1801</c:v>
                </c:pt>
                <c:pt idx="11">
                  <c:v>1940</c:v>
                </c:pt>
                <c:pt idx="12">
                  <c:v>2300</c:v>
                </c:pt>
                <c:pt idx="13">
                  <c:v>2700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CB-8A4D-97B8-73FC75993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346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346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Georgia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Georgia"/>
              </a:rPr>
              <a:t>Oil Price (2012–2025)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(USD/bbl)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95</c:v>
                </c:pt>
                <c:pt idx="1">
                  <c:v>98</c:v>
                </c:pt>
                <c:pt idx="2">
                  <c:v>93</c:v>
                </c:pt>
                <c:pt idx="3">
                  <c:v>49</c:v>
                </c:pt>
                <c:pt idx="4">
                  <c:v>44</c:v>
                </c:pt>
                <c:pt idx="5">
                  <c:v>54</c:v>
                </c:pt>
                <c:pt idx="6">
                  <c:v>65</c:v>
                </c:pt>
                <c:pt idx="7">
                  <c:v>57</c:v>
                </c:pt>
                <c:pt idx="8">
                  <c:v>42</c:v>
                </c:pt>
                <c:pt idx="9">
                  <c:v>68</c:v>
                </c:pt>
                <c:pt idx="10">
                  <c:v>95</c:v>
                </c:pt>
                <c:pt idx="11">
                  <c:v>79</c:v>
                </c:pt>
                <c:pt idx="12">
                  <c:v>80</c:v>
                </c:pt>
                <c:pt idx="1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5-B843-9F76-F866B6441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13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40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DS322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2000"/>
          </a:p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27432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Nourah Bint</a:t>
            </a:r>
            <a:endParaRPr lang="en-US" sz="900"/>
          </a:p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University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749040" y="548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3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&amp; OIL</a:t>
            </a:r>
            <a:endParaRPr lang="en-US" sz="520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PRICES DASHBOARD</a:t>
            </a:r>
            <a:endParaRPr lang="en-US" sz="2200"/>
          </a:p>
        </p:txBody>
      </p:sp>
      <p:sp>
        <p:nvSpPr>
          <p:cNvPr id="11" name="Shape 9"/>
          <p:cNvSpPr/>
          <p:nvPr/>
        </p:nvSpPr>
        <p:spPr>
          <a:xfrm>
            <a:off x="3749040" y="2286000"/>
            <a:ext cx="49377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374904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Analysis · Alpha Vantage API · Power BI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7490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61s  ·  Resal Naif Alsantli  ·  Lena Ahmad Aldokhayel  ·  Norah Alotaibi  ·  Fajr Khaled Alhajri  ·  Sarah Alfwzan</a:t>
            </a:r>
            <a:endParaRPr lang="en-US" sz="85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657600" y="36576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0624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Semester 1447 – 2026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4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931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612648" y="1252728"/>
            <a:ext cx="5943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612648" y="12710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307592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931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612648" y="2441448"/>
            <a:ext cx="5943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612648" y="245973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1307592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Sources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3931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612648" y="3630168"/>
            <a:ext cx="5943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612648" y="364845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307592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800600" y="1143000"/>
            <a:ext cx="3931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Shape 16"/>
          <p:cNvSpPr/>
          <p:nvPr/>
        </p:nvSpPr>
        <p:spPr>
          <a:xfrm>
            <a:off x="4910328" y="1252728"/>
            <a:ext cx="5943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4910328" y="12710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5605272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3931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4910328" y="2441448"/>
            <a:ext cx="5943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4910328" y="245973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5605272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Visuals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393192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4910328" y="3630168"/>
            <a:ext cx="5943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910328" y="364845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5605272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PROBLEM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329184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PROJECT?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oil are among the world's most strategic commodities.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640080" y="2002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directly influence inflation, economies, and purchasing power.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serves as a safe-haven during economic crises.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is the backbone of transportation and industry.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interactive analytical tools are scarce.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4800600" y="960120"/>
            <a:ext cx="3886200" cy="141732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983480" y="10789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983480" y="144475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Power BI dashboard connecting real-time Alpha Vantage API data to reveal gold–oil relationships and economic trends.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800600" y="2560320"/>
            <a:ext cx="182880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4965192" y="26151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965192" y="29077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 trends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6766560" y="2560320"/>
            <a:ext cx="182880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6766560" y="256032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6931152" y="26151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931152" y="290779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Gold–oil correlation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965192" y="34838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965192" y="37764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6931152" y="348386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931152" y="37764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DATA SOURCES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60520" cy="329184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60520" cy="347472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160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576072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Crude Oil Prices (WTI)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76072" y="14813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37160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 Commodity API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76072" y="19019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37160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76072" y="23225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371600" y="23225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Barrel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76072" y="27432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371600" y="2743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interval · unit · date · value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6072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closing prices of West Texas Intermediate crude oil — the world's primary benchmark for oil supply &amp; demand.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160520" cy="32918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6052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4160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4965192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Prices (XAU/USD)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965192" y="14813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576072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 Gold/Silver History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965192" y="19019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760720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965192" y="23225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5760720" y="23225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Troy Ounce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965192" y="27432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760720" y="2743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price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965192" y="3200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spot prices of gold in USD, key indicator of economic stability, inflation hedging &amp; precious-metals market trends.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Both datasets auto-refresh via live API calls in Power BI — enabling real-time dashboard updates.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920240" y="2194560"/>
            <a:ext cx="228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2075688" y="20848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9A84C"/>
                </a:solidFill>
              </a:rPr>
              <a:t>▶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320040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914400" y="111556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84632" y="168249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from API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84632" y="2231136"/>
            <a:ext cx="13167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Web (JSON URL)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Gold and Oil separately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602736" y="2194560"/>
            <a:ext cx="228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3758184" y="20848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9A84C"/>
                </a:solidFill>
              </a:rPr>
              <a:t>▶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093976" y="1005840"/>
            <a:ext cx="1463040" cy="320040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2596896" y="111556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2596896" y="1124712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2167128" y="168249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Tables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2167128" y="2231136"/>
            <a:ext cx="13167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JSON, rename columns,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5285232" y="2194560"/>
            <a:ext cx="228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Text 18"/>
          <p:cNvSpPr/>
          <p:nvPr/>
        </p:nvSpPr>
        <p:spPr>
          <a:xfrm>
            <a:off x="5440680" y="20848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9A84C"/>
                </a:solidFill>
              </a:rPr>
              <a:t>▶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3776472" y="1005840"/>
            <a:ext cx="1463040" cy="3200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3776472" y="1005840"/>
            <a:ext cx="1463040" cy="54864"/>
          </a:xfrm>
          <a:prstGeom prst="rect">
            <a:avLst/>
          </a:prstGeom>
          <a:solidFill>
            <a:srgbClr val="A07C28"/>
          </a:solidFill>
          <a:ln w="12700">
            <a:solidFill>
              <a:srgbClr val="A07C28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4279392" y="1115568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4279392" y="1124712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3849624" y="168249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latin typeface="Georgia" panose="02040502050405020303" pitchFamily="18" charset="0"/>
              </a:rPr>
              <a:t>Create Date Table</a:t>
            </a:r>
            <a:endParaRPr lang="en-US" sz="110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49624" y="2231136"/>
            <a:ext cx="13167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/>
              <a:t>DAX: CALENDAR(MIN(Gold[date]), MAX(Gold[date]))</a:t>
            </a:r>
          </a:p>
        </p:txBody>
      </p:sp>
      <p:sp>
        <p:nvSpPr>
          <p:cNvPr id="27" name="Shape 25"/>
          <p:cNvSpPr/>
          <p:nvPr/>
        </p:nvSpPr>
        <p:spPr>
          <a:xfrm>
            <a:off x="6967728" y="2194560"/>
            <a:ext cx="228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Text 26"/>
          <p:cNvSpPr/>
          <p:nvPr/>
        </p:nvSpPr>
        <p:spPr>
          <a:xfrm>
            <a:off x="7123176" y="20848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9A84C"/>
                </a:solidFill>
              </a:rPr>
              <a:t>▶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458968" y="1005840"/>
            <a:ext cx="1463040" cy="320040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0" name="Shape 28"/>
          <p:cNvSpPr/>
          <p:nvPr/>
        </p:nvSpPr>
        <p:spPr>
          <a:xfrm>
            <a:off x="5961888" y="111556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961888" y="1124712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5532120" y="168249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Georgia"/>
              </a:rPr>
              <a:t>Add Columns to Date Table</a:t>
            </a:r>
            <a:endParaRPr lang="en-US" sz="1100">
              <a:solidFill>
                <a:schemeClr val="bg1"/>
              </a:solidFill>
              <a:latin typeface="Georgi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32120" y="2231136"/>
            <a:ext cx="13167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Quarter, </a:t>
            </a:r>
            <a:r>
              <a:rPr lang="en-US" sz="9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YearMonth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using ADDCOLUMNS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7141464" y="1005840"/>
            <a:ext cx="1463040" cy="320040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5" name="Shape 33"/>
          <p:cNvSpPr/>
          <p:nvPr/>
        </p:nvSpPr>
        <p:spPr>
          <a:xfrm>
            <a:off x="7644384" y="111556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Text 34"/>
          <p:cNvSpPr/>
          <p:nvPr/>
        </p:nvSpPr>
        <p:spPr>
          <a:xfrm>
            <a:off x="7644384" y="1124712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7214616" y="1682496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&amp; Apply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7214616" y="2231136"/>
            <a:ext cx="13167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 by date,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Apply to model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0" name="Text 38"/>
          <p:cNvSpPr/>
          <p:nvPr/>
        </p:nvSpPr>
        <p:spPr>
          <a:xfrm>
            <a:off x="59436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50" b="1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</a:t>
            </a: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>
                <a:solidFill>
                  <a:srgbClr val="FFC000"/>
                </a:solidFill>
              </a:rPr>
              <a:t>→</a:t>
            </a:r>
            <a:r>
              <a:rPr lang="en-US"/>
              <a:t> </a:t>
            </a:r>
            <a:r>
              <a:rPr lang="en-US" sz="11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Gold   + Oil 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2554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DESIGN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33756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02336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1 — Overview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6692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title header (Times New Roman, 28pt bold)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566928" y="18653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Cards: Last/Max/Min for Gold &amp; Oil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Volatility — Gauge Chart (center)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Panel: Year-Month slicer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66928" y="2962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Chart: Sum of Oil Price by Month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66928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Chart: Sum of Gold Price by Month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023360" cy="333756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02336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0233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4846320" y="10424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2 — Detailed Analysis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846320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Column: Sum of Gold Price by Year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846320" y="18653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Area: Annual Gold Price Growth Rate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846320" y="22311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Avg Gold-Oil Ratio by Year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846320" y="25968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Gold &amp; Oil Relationship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4846320" y="2962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Slicer (advanced filter)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846320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Total Records · Date Range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1546" y="4526280"/>
            <a:ext cx="437329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140677" y="4526280"/>
            <a:ext cx="4294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70916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— MEASURES &amp; KPIs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92024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5K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496312" y="1005840"/>
            <a:ext cx="192024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2587752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 2011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2587752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81144" y="1033272"/>
            <a:ext cx="192024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4672584" y="105156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2026</a:t>
            </a:r>
            <a:endParaRPr lang="en-US" sz="3000"/>
          </a:p>
        </p:txBody>
      </p:sp>
      <p:sp>
        <p:nvSpPr>
          <p:cNvPr id="13" name="Text 11"/>
          <p:cNvSpPr/>
          <p:nvPr/>
        </p:nvSpPr>
        <p:spPr>
          <a:xfrm>
            <a:off x="4672584" y="17261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665976" y="1005840"/>
            <a:ext cx="192024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6757416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6757416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11480" y="2176272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Shape 16"/>
          <p:cNvSpPr/>
          <p:nvPr/>
        </p:nvSpPr>
        <p:spPr>
          <a:xfrm>
            <a:off x="411480" y="21762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484632" y="22677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Gold Price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8463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gold price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2093976" y="2176272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2093976" y="21762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2167128" y="22677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Oil Price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2167128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oil price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3776472" y="2176272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3776472" y="21762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3849624" y="22677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 Gold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849624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gold prices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5458968" y="2176272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0" name="Shape 28"/>
          <p:cNvSpPr/>
          <p:nvPr/>
        </p:nvSpPr>
        <p:spPr>
          <a:xfrm>
            <a:off x="5458968" y="21762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532120" y="22677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Min Oil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532120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oil prices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7141464" y="2176272"/>
            <a:ext cx="1554480" cy="77724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4" name="Shape 32"/>
          <p:cNvSpPr/>
          <p:nvPr/>
        </p:nvSpPr>
        <p:spPr>
          <a:xfrm>
            <a:off x="7141464" y="21762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7214616" y="22677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Volatility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7214616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Fluctuation analysis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411480" y="3090672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8" name="Shape 36"/>
          <p:cNvSpPr/>
          <p:nvPr/>
        </p:nvSpPr>
        <p:spPr>
          <a:xfrm>
            <a:off x="411480" y="30906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9" name="Text 37"/>
          <p:cNvSpPr/>
          <p:nvPr/>
        </p:nvSpPr>
        <p:spPr>
          <a:xfrm>
            <a:off x="484632" y="3182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Gold_Oil_Ratio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484632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Barrels per troy ounce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2093976" y="3090672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2" name="Shape 40"/>
          <p:cNvSpPr/>
          <p:nvPr/>
        </p:nvSpPr>
        <p:spPr>
          <a:xfrm>
            <a:off x="2093976" y="30906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3" name="Text 41"/>
          <p:cNvSpPr/>
          <p:nvPr/>
        </p:nvSpPr>
        <p:spPr>
          <a:xfrm>
            <a:off x="2167128" y="3182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YoY %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2167128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gold growth rate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3776472" y="3090672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3776472" y="30906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7" name="Text 45"/>
          <p:cNvSpPr/>
          <p:nvPr/>
        </p:nvSpPr>
        <p:spPr>
          <a:xfrm>
            <a:off x="3849624" y="3182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YoY %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3849624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oil growth rate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5458968" y="3090672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0" name="Shape 48"/>
          <p:cNvSpPr/>
          <p:nvPr/>
        </p:nvSpPr>
        <p:spPr>
          <a:xfrm>
            <a:off x="5458968" y="30906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1" name="Text 49"/>
          <p:cNvSpPr/>
          <p:nvPr/>
        </p:nvSpPr>
        <p:spPr>
          <a:xfrm>
            <a:off x="5532120" y="3182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Gold Price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5532120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 period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7141464" y="3090672"/>
            <a:ext cx="155448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4" name="Shape 52"/>
          <p:cNvSpPr/>
          <p:nvPr/>
        </p:nvSpPr>
        <p:spPr>
          <a:xfrm>
            <a:off x="7141464" y="3090672"/>
            <a:ext cx="1554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5" name="Text 53"/>
          <p:cNvSpPr/>
          <p:nvPr/>
        </p:nvSpPr>
        <p:spPr>
          <a:xfrm>
            <a:off x="7214616" y="31821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721461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period label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 USED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76072" y="10607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Cards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76072" y="14081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indicators: Latest, Max, Min prices + records &amp; date range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4919472" y="10607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Gauge Chart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919472" y="14081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Price Volatility — instant visual of market stability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11480" y="1892808"/>
            <a:ext cx="41148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411480" y="1892808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76072" y="19476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Charts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76072" y="22951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Oil &amp; Gold price sums — seasonality &amp; short-term trends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754880" y="1892808"/>
            <a:ext cx="41148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Shape 16"/>
          <p:cNvSpPr/>
          <p:nvPr/>
        </p:nvSpPr>
        <p:spPr>
          <a:xfrm>
            <a:off x="4754880" y="1892808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4919472" y="19476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Clustered Column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919472" y="22951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gold price totals — long-term growth patterns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11480" y="2779776"/>
            <a:ext cx="41148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411480" y="2779776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576072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Stacked Area Chart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76072" y="31821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YoY % — year-over-year growth rate fluctuations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754880" y="2779776"/>
            <a:ext cx="4114800" cy="77724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4754880" y="2779776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919472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Donut Chart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919472" y="31821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Gold-Oil Ratio by year — relative commodity strength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11480" y="3666744"/>
            <a:ext cx="41148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0" name="Shape 28"/>
          <p:cNvSpPr/>
          <p:nvPr/>
        </p:nvSpPr>
        <p:spPr>
          <a:xfrm>
            <a:off x="411480" y="3666744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Text 29"/>
          <p:cNvSpPr/>
          <p:nvPr/>
        </p:nvSpPr>
        <p:spPr>
          <a:xfrm>
            <a:off x="576072" y="3721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Chart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76072" y="4069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vs Oil over years — correlation between commodities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754880" y="3666744"/>
            <a:ext cx="41148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34" name="Shape 32"/>
          <p:cNvSpPr/>
          <p:nvPr/>
        </p:nvSpPr>
        <p:spPr>
          <a:xfrm>
            <a:off x="4754880" y="3666744"/>
            <a:ext cx="6400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Text 33"/>
          <p:cNvSpPr/>
          <p:nvPr/>
        </p:nvSpPr>
        <p:spPr>
          <a:xfrm>
            <a:off x="4919472" y="3721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Slicers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4919472" y="4069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Year-Month &amp; Month filters — dynamic real-time exploration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 INSIGHTS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943600" y="1005840"/>
          <a:ext cx="2788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8" name="Text 4"/>
          <p:cNvSpPr/>
          <p:nvPr/>
        </p:nvSpPr>
        <p:spPr>
          <a:xfrm>
            <a:off x="5943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Gold has risen ~62% since 2020, while oil remains volatile — confirming gold's safe-haven status during uncertainty.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LIMITATIONS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338328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576072" y="1097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FACED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76072" y="1591056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576072" y="159105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APIs with different JSON structures and response formats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76072" y="2267712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576072" y="226771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914400" y="224942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 occasionally disrupted data retrieval and testing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76072" y="2944368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576072" y="29443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columns restricted creation of more advanced DAX measures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76072" y="3621024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576072" y="362102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calculations required extra preprocessing before building measures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38328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Text 20"/>
          <p:cNvSpPr/>
          <p:nvPr/>
        </p:nvSpPr>
        <p:spPr>
          <a:xfrm>
            <a:off x="4919472" y="1097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919472" y="1591056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4919472" y="159105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257800" y="157276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external APIs — any downtime affects the system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4919472" y="2267712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4919472" y="226771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257800" y="224942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 features reduced depth of analysis possible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919472" y="2944368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28"/>
          <p:cNvSpPr/>
          <p:nvPr/>
        </p:nvSpPr>
        <p:spPr>
          <a:xfrm>
            <a:off x="4919472" y="294436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5257800" y="292608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accuracy is dependent on the quality of API-returned data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919472" y="3621024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Text 31"/>
          <p:cNvSpPr/>
          <p:nvPr/>
        </p:nvSpPr>
        <p:spPr>
          <a:xfrm>
            <a:off x="4919472" y="362102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257800" y="3602736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constraints prevented expanding the dataset further</a:t>
            </a:r>
            <a:endParaRPr lang="en-US"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SDG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8138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06040" cy="256032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Commodities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521208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silver, natural gas, and currency pairs for broader economic analysis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06040" cy="256032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14300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0128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Forecasting</a:t>
            </a:r>
            <a:endParaRPr lang="en-US" sz="1250"/>
          </a:p>
        </p:txBody>
      </p:sp>
      <p:sp>
        <p:nvSpPr>
          <p:cNvPr id="12" name="Text 8"/>
          <p:cNvSpPr/>
          <p:nvPr/>
        </p:nvSpPr>
        <p:spPr>
          <a:xfrm>
            <a:off x="3310128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machine learning models to improve price prediction and detect anomalies</a:t>
            </a:r>
            <a:endParaRPr lang="en-US" sz="1000"/>
          </a:p>
        </p:txBody>
      </p:sp>
      <p:sp>
        <p:nvSpPr>
          <p:cNvPr id="13" name="Shape 9"/>
          <p:cNvSpPr/>
          <p:nvPr/>
        </p:nvSpPr>
        <p:spPr>
          <a:xfrm>
            <a:off x="5989320" y="1005840"/>
            <a:ext cx="2606040" cy="2560320"/>
          </a:xfrm>
          <a:prstGeom prst="rect">
            <a:avLst/>
          </a:prstGeom>
          <a:solidFill>
            <a:srgbClr val="0F346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14300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99048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Dashboard</a:t>
            </a:r>
            <a:endParaRPr lang="en-US" sz="1250"/>
          </a:p>
        </p:txBody>
      </p:sp>
      <p:sp>
        <p:nvSpPr>
          <p:cNvPr id="16" name="Text 11"/>
          <p:cNvSpPr/>
          <p:nvPr/>
        </p:nvSpPr>
        <p:spPr>
          <a:xfrm>
            <a:off x="6099048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mobile-friendly version with real-time push notifications</a:t>
            </a:r>
            <a:endParaRPr lang="en-US" sz="1000"/>
          </a:p>
        </p:txBody>
      </p:sp>
      <p:sp>
        <p:nvSpPr>
          <p:cNvPr id="17" name="Shape 12"/>
          <p:cNvSpPr/>
          <p:nvPr/>
        </p:nvSpPr>
        <p:spPr>
          <a:xfrm>
            <a:off x="411480" y="3767328"/>
            <a:ext cx="832104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411480" y="3767328"/>
            <a:ext cx="8321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5876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8404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SDG 8 — Decent Work &amp; Economic Growth</a:t>
            </a:r>
            <a:endParaRPr lang="en-US" sz="1300"/>
          </a:p>
        </p:txBody>
      </p:sp>
      <p:sp>
        <p:nvSpPr>
          <p:cNvPr id="21" name="Text 15"/>
          <p:cNvSpPr/>
          <p:nvPr/>
        </p:nvSpPr>
        <p:spPr>
          <a:xfrm>
            <a:off x="1143000" y="4251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supports data-driven financial decision-making, helps monitor market changes, and provides accessible economic insights for investors, analysts, and policymakers.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50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00"/>
          </a:p>
        </p:txBody>
      </p:sp>
      <p:sp>
        <p:nvSpPr>
          <p:cNvPr id="6" name="Shape 4"/>
          <p:cNvSpPr/>
          <p:nvPr/>
        </p:nvSpPr>
        <p:spPr>
          <a:xfrm>
            <a:off x="2286000" y="1115568"/>
            <a:ext cx="4572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live Power BI dashboard for gold &amp; oil price analysis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real-time Alpha Vantage API with automatic refresh capabilities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14400" y="22768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descriptive, diagnostic analytics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914400" y="27523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interactive cross-filtering for non-technical and expert users alike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914400" y="32278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the importance of BI &amp; data visualization in economic decision-making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DS322 · Business Intelligence · Section 61s · Princess Nourah Bint Abdulrahman University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&amp; Oil Prices Dashboard – DS322</dc:title>
  <dc:subject>PptxGenJS Presentation</dc:subject>
  <dc:creator>PptxGenJS</dc:creator>
  <cp:revision>3</cp:revision>
  <dcterms:created xsi:type="dcterms:W3CDTF">2026-05-16T23:27:55Z</dcterms:created>
  <dcterms:modified xsi:type="dcterms:W3CDTF">2026-05-19T19:58:24Z</dcterms:modified>
</cp:coreProperties>
</file>